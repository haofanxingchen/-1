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</p:sldMasterIdLst>
  <p:sldIdLst>
    <p:sldId id="256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2" userDrawn="1">
          <p15:clr>
            <a:srgbClr val="A4A3A4"/>
          </p15:clr>
        </p15:guide>
        <p15:guide id="2" pos="324" userDrawn="1">
          <p15:clr>
            <a:srgbClr val="A4A3A4"/>
          </p15:clr>
        </p15:guide>
        <p15:guide id="3" pos="5289" userDrawn="1">
          <p15:clr>
            <a:srgbClr val="A4A3A4"/>
          </p15:clr>
        </p15:guide>
        <p15:guide id="4" orient="horz" pos="1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58B"/>
    <a:srgbClr val="E9EAEA"/>
    <a:srgbClr val="363532"/>
    <a:srgbClr val="6E26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73"/>
    <p:restoredTop sz="94694"/>
  </p:normalViewPr>
  <p:slideViewPr>
    <p:cSldViewPr snapToGrid="0" snapToObjects="1" showGuides="1">
      <p:cViewPr varScale="1">
        <p:scale>
          <a:sx n="161" d="100"/>
          <a:sy n="161" d="100"/>
        </p:scale>
        <p:origin x="752" y="200"/>
      </p:cViewPr>
      <p:guideLst>
        <p:guide orient="horz" pos="332"/>
        <p:guide pos="324"/>
        <p:guide pos="5289"/>
        <p:guide orient="horz" pos="1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7" Type="http://schemas.openxmlformats.org/officeDocument/2006/relationships/theme" Target="../theme/theme5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5" Type="http://schemas.openxmlformats.org/officeDocument/2006/relationships/theme" Target="../theme/theme6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t="203" r="541"/>
          <a:stretch>
            <a:fillRect/>
          </a:stretch>
        </p:blipFill>
        <p:spPr>
          <a:xfrm>
            <a:off x="-66515" y="-23309"/>
            <a:ext cx="9210514" cy="519144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/>
          <a:srcRect l="80763"/>
          <a:stretch>
            <a:fillRect/>
          </a:stretch>
        </p:blipFill>
        <p:spPr>
          <a:xfrm>
            <a:off x="7384941" y="-4971"/>
            <a:ext cx="1773051" cy="5177366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-1642618" y="-23309"/>
            <a:ext cx="362458" cy="247952"/>
          </a:xfrm>
          <a:prstGeom prst="rect">
            <a:avLst/>
          </a:prstGeom>
          <a:solidFill>
            <a:srgbClr val="6E26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-1642618" y="258004"/>
            <a:ext cx="362458" cy="247952"/>
          </a:xfrm>
          <a:prstGeom prst="rect">
            <a:avLst/>
          </a:prstGeom>
          <a:solidFill>
            <a:srgbClr val="8B65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-1642618" y="529411"/>
            <a:ext cx="362458" cy="247952"/>
          </a:xfrm>
          <a:prstGeom prst="rect">
            <a:avLst/>
          </a:prstGeom>
          <a:solidFill>
            <a:srgbClr val="36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-1642618" y="800819"/>
            <a:ext cx="362458" cy="247952"/>
          </a:xfrm>
          <a:prstGeom prst="rect">
            <a:avLst/>
          </a:prstGeom>
          <a:solidFill>
            <a:srgbClr val="E9EAEA"/>
          </a:solidFill>
          <a:ln>
            <a:solidFill>
              <a:srgbClr val="8B65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46943" y="552916"/>
            <a:ext cx="991804" cy="317159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23" y="0"/>
            <a:ext cx="9138353" cy="5143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449" y="-3496"/>
            <a:ext cx="9162673" cy="51469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496"/>
            <a:ext cx="9144000" cy="51400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/>
          <a:srcRect l="75365" t="-1" b="524"/>
          <a:stretch>
            <a:fillRect/>
          </a:stretch>
        </p:blipFill>
        <p:spPr>
          <a:xfrm>
            <a:off x="6857999" y="-39308"/>
            <a:ext cx="2284893" cy="5182808"/>
          </a:xfrm>
          <a:prstGeom prst="rect">
            <a:avLst/>
          </a:prstGeom>
        </p:spPr>
      </p:pic>
      <p:sp>
        <p:nvSpPr>
          <p:cNvPr id="10" name="Text Box 14"/>
          <p:cNvSpPr txBox="1">
            <a:spLocks noChangeArrowheads="1"/>
          </p:cNvSpPr>
          <p:nvPr userDrawn="1"/>
        </p:nvSpPr>
        <p:spPr bwMode="auto">
          <a:xfrm>
            <a:off x="461151" y="4749266"/>
            <a:ext cx="411334" cy="200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742950" indent="-28575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fld id="{817C6FFC-C84C-AA49-8BEA-CB6E76B19617}" type="slidenum">
              <a:rPr kumimoji="1" lang="en-US" altLang="zh-CN" sz="700" b="0" smtClean="0">
                <a:solidFill>
                  <a:srgbClr val="363532"/>
                </a:solidFill>
                <a:latin typeface="Arial" panose="020B0604020202020204" pitchFamily="34" charset="0"/>
                <a:ea typeface="文鼎细圆简" charset="0"/>
                <a:cs typeface="文鼎细圆简" charset="0"/>
              </a:rPr>
            </a:fld>
            <a:endParaRPr kumimoji="1" lang="en-US" altLang="zh-CN" sz="700" b="0" dirty="0">
              <a:solidFill>
                <a:srgbClr val="363532"/>
              </a:solidFill>
              <a:latin typeface="Arial" panose="020B0604020202020204" pitchFamily="34" charset="0"/>
              <a:ea typeface="文鼎细圆简" charset="0"/>
              <a:cs typeface="文鼎细圆简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4"/>
          <a:srcRect t="12671" r="52406"/>
          <a:stretch>
            <a:fillRect/>
          </a:stretch>
        </p:blipFill>
        <p:spPr>
          <a:xfrm>
            <a:off x="7951297" y="252919"/>
            <a:ext cx="894102" cy="23188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225" y="0"/>
            <a:ext cx="9156449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/>
          <a:srcRect l="20828" t="12671" r="52141" b="33238"/>
          <a:stretch>
            <a:fillRect/>
          </a:stretch>
        </p:blipFill>
        <p:spPr>
          <a:xfrm>
            <a:off x="8348721" y="252919"/>
            <a:ext cx="503501" cy="1425756"/>
          </a:xfrm>
          <a:prstGeom prst="rect">
            <a:avLst/>
          </a:prstGeom>
        </p:spPr>
      </p:pic>
      <p:sp>
        <p:nvSpPr>
          <p:cNvPr id="12" name="Text Box 14"/>
          <p:cNvSpPr txBox="1">
            <a:spLocks noChangeArrowheads="1"/>
          </p:cNvSpPr>
          <p:nvPr userDrawn="1"/>
        </p:nvSpPr>
        <p:spPr bwMode="auto">
          <a:xfrm>
            <a:off x="461151" y="4749266"/>
            <a:ext cx="411334" cy="200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742950" indent="-28575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fld id="{817C6FFC-C84C-AA49-8BEA-CB6E76B19617}" type="slidenum">
              <a:rPr kumimoji="1" lang="en-US" altLang="zh-CN" sz="700" b="0" smtClean="0">
                <a:solidFill>
                  <a:srgbClr val="363532"/>
                </a:solidFill>
                <a:latin typeface="Arial" panose="020B0604020202020204" pitchFamily="34" charset="0"/>
                <a:ea typeface="文鼎细圆简" charset="0"/>
                <a:cs typeface="文鼎细圆简" charset="0"/>
              </a:rPr>
            </a:fld>
            <a:endParaRPr kumimoji="1" lang="en-US" altLang="zh-CN" sz="700" b="0" dirty="0">
              <a:solidFill>
                <a:srgbClr val="363532"/>
              </a:solidFill>
              <a:latin typeface="Arial" panose="020B0604020202020204" pitchFamily="34" charset="0"/>
              <a:ea typeface="文鼎细圆简" charset="0"/>
              <a:cs typeface="文鼎细圆简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733" y="-34552"/>
            <a:ext cx="9269397" cy="52069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/>
          <a:srcRect l="80763"/>
          <a:stretch>
            <a:fillRect/>
          </a:stretch>
        </p:blipFill>
        <p:spPr>
          <a:xfrm>
            <a:off x="7384941" y="-4971"/>
            <a:ext cx="1773051" cy="517736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2435693" y="1276894"/>
            <a:ext cx="3176128" cy="107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100" b="0" i="0" spc="0" dirty="0">
                <a:solidFill>
                  <a:srgbClr val="8B658B"/>
                </a:solidFill>
                <a:latin typeface="微软雅黑" panose="020B0503020204020204" charset="-122"/>
                <a:ea typeface="微软雅黑" panose="020B0503020204020204" charset="-122"/>
              </a:rPr>
              <a:t>书院官微：清华大学新雅书院</a:t>
            </a:r>
            <a:endParaRPr kumimoji="1" lang="zh-CN" altLang="en-US" sz="1100" b="0" i="0" spc="0" dirty="0">
              <a:solidFill>
                <a:srgbClr val="8B65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100" b="0" i="0" spc="0" dirty="0">
                <a:solidFill>
                  <a:srgbClr val="8B658B"/>
                </a:solidFill>
                <a:latin typeface="微软雅黑" panose="020B0503020204020204" charset="-122"/>
                <a:ea typeface="微软雅黑" panose="020B0503020204020204" charset="-122"/>
              </a:rPr>
              <a:t>书院官网：</a:t>
            </a:r>
            <a:r>
              <a:rPr kumimoji="1" lang="en-US" altLang="zh-CN" sz="1100" b="0" i="0" spc="0" dirty="0">
                <a:solidFill>
                  <a:srgbClr val="8B658B"/>
                </a:solidFill>
                <a:latin typeface="微软雅黑" panose="020B0503020204020204" charset="-122"/>
                <a:ea typeface="微软雅黑" panose="020B0503020204020204" charset="-122"/>
              </a:rPr>
              <a:t>www.xyc.tsinghua.edu.cn</a:t>
            </a:r>
            <a:endParaRPr kumimoji="1" lang="en-US" altLang="zh-CN" sz="1100" b="0" i="0" spc="0" dirty="0">
              <a:solidFill>
                <a:srgbClr val="8B65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100" b="0" i="0" spc="0" dirty="0">
                <a:solidFill>
                  <a:srgbClr val="8B658B"/>
                </a:solidFill>
                <a:latin typeface="微软雅黑" panose="020B0503020204020204" charset="-122"/>
                <a:ea typeface="微软雅黑" panose="020B0503020204020204" charset="-122"/>
              </a:rPr>
              <a:t>书院电话：</a:t>
            </a:r>
            <a:r>
              <a:rPr kumimoji="1" lang="en-US" altLang="zh-CN" sz="1100" b="0" i="0" spc="0" dirty="0">
                <a:solidFill>
                  <a:srgbClr val="8B658B"/>
                </a:solidFill>
                <a:latin typeface="微软雅黑" panose="020B0503020204020204" charset="-122"/>
                <a:ea typeface="微软雅黑" panose="020B0503020204020204" charset="-122"/>
              </a:rPr>
              <a:t>+86 10 62788262</a:t>
            </a:r>
            <a:endParaRPr kumimoji="1" lang="en-US" altLang="zh-CN" sz="1100" b="0" i="0" spc="0" dirty="0">
              <a:solidFill>
                <a:srgbClr val="8B65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100" b="0" i="0" spc="0" dirty="0">
                <a:solidFill>
                  <a:srgbClr val="8B658B"/>
                </a:solidFill>
                <a:latin typeface="微软雅黑" panose="020B0503020204020204" charset="-122"/>
                <a:ea typeface="微软雅黑" panose="020B0503020204020204" charset="-122"/>
              </a:rPr>
              <a:t>书院邮箱：</a:t>
            </a:r>
            <a:r>
              <a:rPr kumimoji="1" lang="en-US" altLang="zh-CN" sz="1100" b="0" i="0" spc="0" dirty="0">
                <a:solidFill>
                  <a:srgbClr val="8B658B"/>
                </a:solidFill>
                <a:latin typeface="微软雅黑" panose="020B0503020204020204" charset="-122"/>
                <a:ea typeface="微软雅黑" panose="020B0503020204020204" charset="-122"/>
              </a:rPr>
              <a:t>xybgs@tsinghua.edu.cn</a:t>
            </a:r>
            <a:endParaRPr kumimoji="1" lang="zh-CN" altLang="en-US" sz="1100" b="0" i="0" spc="0" dirty="0">
              <a:solidFill>
                <a:srgbClr val="8B65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982059" y="3822002"/>
            <a:ext cx="2105697" cy="24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60000"/>
              </a:lnSpc>
            </a:pPr>
            <a:r>
              <a:rPr kumimoji="1" lang="zh-CN" altLang="en-US" sz="700" b="0" i="0" spc="0" dirty="0">
                <a:solidFill>
                  <a:srgbClr val="8B658B"/>
                </a:solidFill>
                <a:latin typeface="微软雅黑" panose="020B0503020204020204" charset="-122"/>
                <a:ea typeface="微软雅黑" panose="020B0503020204020204" charset="-122"/>
              </a:rPr>
              <a:t>欢迎关注清华大学新雅书院微信公众号</a:t>
            </a:r>
            <a:endParaRPr kumimoji="1" lang="zh-CN" altLang="en-US" sz="700" b="0" i="0" spc="0" dirty="0">
              <a:solidFill>
                <a:srgbClr val="8B65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/>
          <a:srcRect t="25725" r="78276" b="50226"/>
          <a:stretch>
            <a:fillRect/>
          </a:stretch>
        </p:blipFill>
        <p:spPr>
          <a:xfrm>
            <a:off x="2889927" y="2460303"/>
            <a:ext cx="1986404" cy="123694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30616" y="660840"/>
            <a:ext cx="819464" cy="4642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046943" y="552916"/>
            <a:ext cx="991804" cy="317159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496"/>
            <a:ext cx="9144000" cy="51400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/>
          <a:srcRect l="75365" t="-1" b="524"/>
          <a:stretch>
            <a:fillRect/>
          </a:stretch>
        </p:blipFill>
        <p:spPr>
          <a:xfrm>
            <a:off x="6857999" y="-39308"/>
            <a:ext cx="2284893" cy="5182808"/>
          </a:xfrm>
          <a:prstGeom prst="rect">
            <a:avLst/>
          </a:prstGeom>
        </p:spPr>
      </p:pic>
      <p:sp>
        <p:nvSpPr>
          <p:cNvPr id="10" name="Text Box 14"/>
          <p:cNvSpPr txBox="1">
            <a:spLocks noChangeArrowheads="1"/>
          </p:cNvSpPr>
          <p:nvPr userDrawn="1"/>
        </p:nvSpPr>
        <p:spPr bwMode="auto">
          <a:xfrm>
            <a:off x="461151" y="4749266"/>
            <a:ext cx="411334" cy="200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742950" indent="-28575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eaLnBrk="0" hangingPunct="0"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charset="0"/>
              <a:defRPr b="1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fld id="{817C6FFC-C84C-AA49-8BEA-CB6E76B19617}" type="slidenum">
              <a:rPr kumimoji="1" lang="en-US" altLang="zh-CN" sz="700" b="0" smtClean="0">
                <a:solidFill>
                  <a:srgbClr val="363532"/>
                </a:solidFill>
                <a:latin typeface="Arial" panose="020B0604020202020204" pitchFamily="34" charset="0"/>
                <a:ea typeface="文鼎细圆简" charset="0"/>
                <a:cs typeface="文鼎细圆简" charset="0"/>
              </a:rPr>
            </a:fld>
            <a:endParaRPr kumimoji="1" lang="en-US" altLang="zh-CN" sz="700" b="0" dirty="0">
              <a:solidFill>
                <a:srgbClr val="363532"/>
              </a:solidFill>
              <a:latin typeface="Arial" panose="020B0604020202020204" pitchFamily="34" charset="0"/>
              <a:ea typeface="文鼎细圆简" charset="0"/>
              <a:cs typeface="文鼎细圆简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4"/>
          <a:srcRect t="12671" r="52406"/>
          <a:stretch>
            <a:fillRect/>
          </a:stretch>
        </p:blipFill>
        <p:spPr>
          <a:xfrm>
            <a:off x="7951297" y="252919"/>
            <a:ext cx="894102" cy="23188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8590" y="686435"/>
            <a:ext cx="59289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axpoll 内核组件：</a:t>
            </a:r>
            <a:endParaRPr sz="4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sz="4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复现、测试与性能优化</a:t>
            </a:r>
            <a:endParaRPr kumimoji="1" lang="zh-CN" altLang="en-US" sz="4400" b="1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41201" y="2492840"/>
            <a:ext cx="484156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8B658B"/>
                </a:solidFill>
              </a:rPr>
              <a:t>汇报人：吴昊</a:t>
            </a:r>
            <a:endParaRPr kumimoji="1" lang="zh-CN" altLang="en-US" sz="2000" dirty="0">
              <a:solidFill>
                <a:srgbClr val="8B658B"/>
              </a:solidFill>
            </a:endParaRPr>
          </a:p>
          <a:p>
            <a:r>
              <a:rPr kumimoji="1" lang="zh-CN" altLang="en-US" sz="2000" dirty="0">
                <a:solidFill>
                  <a:srgbClr val="8B658B"/>
                </a:solidFill>
              </a:rPr>
              <a:t>汇报时间：</a:t>
            </a:r>
            <a:r>
              <a:rPr kumimoji="1" lang="en-US" altLang="zh-CN" sz="2000" dirty="0">
                <a:solidFill>
                  <a:srgbClr val="8B658B"/>
                </a:solidFill>
              </a:rPr>
              <a:t>2026/10/12</a:t>
            </a:r>
            <a:endParaRPr kumimoji="1" lang="en-US" altLang="zh-CN" sz="2000" dirty="0">
              <a:solidFill>
                <a:srgbClr val="8B658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6890" y="1372870"/>
            <a:ext cx="6879590" cy="3026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Starry-OS 是 Rust 编写的开源宏内核，基于 ArceOS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starry-crates 是其可复用组件清单（13 个 crate），可独立复现、测试、提 PR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选中 axpoll —— “A library for polling I/O events and waking up tasks.”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它是 StarryOS 内核 poll / select / epoll 的底座，网络 socket 通过它实现就绪通知</a:t>
            </a: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3635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890" y="733425"/>
            <a:ext cx="799592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选题背景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kumimoji="1" lang="zh-CN" altLang="en-US" b="1" spc="300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5295" y="930275"/>
            <a:ext cx="7042150" cy="3396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IoEvents：Linux POLL 位标志（IN/OUT/ERR/HUP…）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Pollable trait：poll() + register(ctx, events)，由 socket 等实现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PollSet：固定 64 槽环形缓冲，register() 追加 waker，wake() 一次性唤醒全部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no_std；spin 自旋锁保护；Lazy 延迟初始化；cursor 记录已用槽位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复现基线：clone 后 cargo test --all-features，7 个测试全过</a:t>
            </a: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3635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5295" y="271780"/>
            <a:ext cx="799592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axpoll 的结构（159 行 lib.rs）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kumimoji="1" lang="zh-CN" altLang="en-US" b="1" spc="300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2305" y="1506220"/>
            <a:ext cx="7042150" cy="3250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register() 环满时驱逐旧 waker，在“持有 spin 锁”的情况下调用 old.wake()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而 wake() 是先 drop 锁、再唤醒——两者不一致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若被唤醒任务重新访问同一个 PollSet，自旋锁不可重入 → 死锁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 ReentrantWaker（wake 时重入 PollSet）写复现测试，2 秒超时判失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败</a:t>
            </a: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3635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3070" y="671830"/>
            <a:ext cx="799592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发现并复现的 Bug：持锁唤醒死锁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kumimoji="1" lang="zh-CN" altLang="en-US" b="1" spc="300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5595" y="151130"/>
            <a:ext cx="799592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修复：把“唤醒”移到锁外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kumimoji="1" lang="zh-CN" altLang="en-US" b="1" spc="300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5595" y="84391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修复前（持锁唤醒）</a:t>
            </a:r>
            <a:endParaRPr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67885" y="84391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修复后（出锁唤醒）</a:t>
            </a:r>
            <a:endParaRPr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5595" y="1405890"/>
            <a:ext cx="368808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>
                <a:latin typeface="Consolas" panose="020B0609020204030204"/>
                <a:sym typeface="+mn-ea"/>
              </a:rPr>
              <a:t>fn register(&amp;mut self, waker: &amp;Waker) {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...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if self.cursor &gt;= 64 {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    let old = ...;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    if !old.will_wake(waker) {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        old.wake();   // 还持着锁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    }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}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}</a:t>
            </a:r>
            <a:endParaRPr>
              <a:latin typeface="Consolas" panose="020B0609020204030204"/>
            </a:endParaRPr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67885" y="1267460"/>
            <a:ext cx="409765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>
                <a:latin typeface="Consolas" panose="020B0609020204030204"/>
                <a:sym typeface="+mn-ea"/>
              </a:rPr>
              <a:t>fn register(&amp;mut self, waker: &amp;Waker)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-&gt; Option&lt;Waker&gt; {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... return 被驱逐的 waker;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}</a:t>
            </a:r>
            <a:endParaRPr>
              <a:latin typeface="Consolas" panose="020B0609020204030204"/>
            </a:endParaRPr>
          </a:p>
          <a:p/>
          <a:p>
            <a:r>
              <a:rPr>
                <a:latin typeface="Consolas" panose="020B0609020204030204"/>
                <a:sym typeface="+mn-ea"/>
              </a:rPr>
              <a:t>pub fn register(&amp;self, waker) {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let evicted = self.0.lock()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    .register(waker);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if let Some(e) = evicted {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    e.wake();   // 锁已释放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    }</a:t>
            </a:r>
            <a:endParaRPr>
              <a:latin typeface="Consolas" panose="020B0609020204030204"/>
            </a:endParaRPr>
          </a:p>
          <a:p>
            <a:r>
              <a:rPr>
                <a:latin typeface="Consolas" panose="020B0609020204030204"/>
                <a:sym typeface="+mn-ea"/>
              </a:rPr>
              <a:t>}</a:t>
            </a:r>
            <a:endParaRPr>
              <a:latin typeface="Consolas" panose="020B0609020204030204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0925" y="1326515"/>
            <a:ext cx="7042150" cy="3164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回归：reentrant（锁修复的复现/回归测试）</a:t>
            </a:r>
            <a:endParaRPr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will_wake 去重：同一 waker 注册 65 次，wake()==64 而非 65</a:t>
            </a:r>
            <a:endParaRPr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环形环绕：200 个不同 waker，总唤醒 200、无越界</a:t>
            </a:r>
            <a:endParaRPr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PollSet 作为 Waker（Wake for PollSet 转发）</a:t>
            </a:r>
            <a:endParaRPr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IoEvents 位标志语义（ALWAYS_POLL == ERR|HUP）</a:t>
            </a:r>
            <a:endParaRPr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部分填充计数 + 并发 register/wake 压力测试</a:t>
            </a:r>
            <a:endParaRPr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rgbClr val="3635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6230" y="598805"/>
            <a:ext cx="799592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测试补充（7 → 14 个测试）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kumimoji="1" lang="zh-CN" altLang="en-US" b="1" spc="300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3420" y="1665605"/>
            <a:ext cx="7042150" cy="2957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手写 best_of 基准：多次采样取最小值，压制定时器/系统噪声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指标：register 吞吐、1 reg+wake()（wake 开销代理）、64 reg+wake()（整周期）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交付：examples/bench.rs + bench.ps1 一键运行脚本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注意：两段独立计时相减会因噪声失效（曾出现负值），改用直接代理指标</a:t>
            </a: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3635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6865" y="972185"/>
            <a:ext cx="799592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性能基准方法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kumimoji="1" lang="zh-CN" altLang="en-US" b="1" spc="300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3420" y="1665605"/>
            <a:ext cx="7042150" cy="2957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定位瓶颈：wake() 每次 Inner::new() 分配 64×Waker ≈ 1KB 再释放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优化：take_all 把 waker 移到栈数组，复用 Box 缓冲，零堆分配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结果（1 reg + wake()）：~54ns → ~18ns，约 3 倍提升；register 不受影响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说明：1KB 从堆挪到栈，仍占 1KB 栈空间（内核小栈可进一步优化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kumimoji="1" lang="zh-CN" sz="1400" dirty="0">
              <a:solidFill>
                <a:srgbClr val="36353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6865" y="972185"/>
            <a:ext cx="799592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性能优化：消除 wake() 的每次堆分配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kumimoji="1" lang="zh-CN" altLang="en-US" b="1" spc="300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94030" y="833120"/>
            <a:ext cx="59289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8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谢谢聆听</a:t>
            </a:r>
            <a:endParaRPr kumimoji="1" lang="zh-CN" sz="8000" b="1" dirty="0">
              <a:solidFill>
                <a:srgbClr val="8B658B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41201" y="2492840"/>
            <a:ext cx="484156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8B658B"/>
                </a:solidFill>
              </a:rPr>
              <a:t>汇报人：吴昊</a:t>
            </a:r>
            <a:endParaRPr kumimoji="1" lang="zh-CN" altLang="en-US" sz="2000" dirty="0">
              <a:solidFill>
                <a:srgbClr val="8B658B"/>
              </a:solidFill>
            </a:endParaRPr>
          </a:p>
          <a:p>
            <a:r>
              <a:rPr kumimoji="1" lang="zh-CN" altLang="en-US" sz="2000" dirty="0">
                <a:solidFill>
                  <a:srgbClr val="8B658B"/>
                </a:solidFill>
              </a:rPr>
              <a:t>汇报时间：</a:t>
            </a:r>
            <a:r>
              <a:rPr kumimoji="1" lang="en-US" altLang="zh-CN" sz="2000" dirty="0">
                <a:solidFill>
                  <a:srgbClr val="8B658B"/>
                </a:solidFill>
              </a:rPr>
              <a:t>2026/10/12</a:t>
            </a:r>
            <a:endParaRPr kumimoji="1" lang="en-US" altLang="zh-CN" sz="2000" dirty="0">
              <a:solidFill>
                <a:srgbClr val="8B658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NjA5NTM3MmIwNWI0M2M3M2YzNzBlOWJkNmM5YmY0N2MifQ=="/>
  <p:tag name="commondata" val="eyJoZGlkIjoiOTY4ODJmM2IwNjEwNTEzODMwNzkzZDljNjgxNTM2MGQ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1760</Words>
  <Application>WPS 演示</Application>
  <PresentationFormat>全屏显示(16:9)</PresentationFormat>
  <Paragraphs>117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Wingdings</vt:lpstr>
      <vt:lpstr>文鼎细圆简</vt:lpstr>
      <vt:lpstr>Songti SC</vt:lpstr>
      <vt:lpstr>Calibri</vt:lpstr>
      <vt:lpstr>Arial Unicode MS</vt:lpstr>
      <vt:lpstr>等线</vt:lpstr>
      <vt:lpstr>FFont-Family</vt:lpstr>
      <vt:lpstr>Consolas</vt:lpstr>
      <vt:lpstr>Office 主题​​</vt:lpstr>
      <vt:lpstr>3_自定义设计方案</vt:lpstr>
      <vt:lpstr>4_自定义设计方案</vt:lpstr>
      <vt:lpstr>自定义设计方案</vt:lpstr>
      <vt:lpstr>1_自定义设计方案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真爱一生</cp:lastModifiedBy>
  <cp:revision>26</cp:revision>
  <dcterms:created xsi:type="dcterms:W3CDTF">2022-06-16T11:08:00Z</dcterms:created>
  <dcterms:modified xsi:type="dcterms:W3CDTF">2026-10-10T09:08:54Z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54569A04BEBF482CB64AB47ED6CDD880_12</vt:lpwstr>
  </property>
  <property fmtid="{D5CDD505-2E9C-101B-9397-08002B2CF9AE}" pid="3" name="KSOProductBuildVer">
    <vt:lpwstr>2052-12.1.0.16388</vt:lpwstr>
  </property>
</Properties>
</file>